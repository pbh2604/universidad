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Manrope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Nunito-regular.fntdata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Manrope-regular.fntdata"/><Relationship Id="rId16" Type="http://schemas.openxmlformats.org/officeDocument/2006/relationships/font" Target="fonts/Nuni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font" Target="fonts/Manrope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146dd64eb_0_5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146dd64eb_0_8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146dd64e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146dd64e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146dd64eb_20_10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146dd64eb_0_14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146dd64eb_20_6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E">
  <p:cSld name="TITLE_AND_BODY_2_1_1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5145700" y="226400"/>
            <a:ext cx="3651900" cy="10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45700" y="1598500"/>
            <a:ext cx="3651900" cy="33186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4"/>
          <p:cNvSpPr/>
          <p:nvPr>
            <p:ph idx="2" type="pic"/>
          </p:nvPr>
        </p:nvSpPr>
        <p:spPr>
          <a:xfrm>
            <a:off x="204047" y="226350"/>
            <a:ext cx="4690800" cy="469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I">
  <p:cSld name="TITLE_AND_BODY_2_1_1_1_2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/>
          <p:nvPr>
            <p:ph idx="2" type="pic"/>
          </p:nvPr>
        </p:nvSpPr>
        <p:spPr>
          <a:xfrm>
            <a:off x="5545950" y="1519300"/>
            <a:ext cx="3090600" cy="3090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C">
  <p:cSld name="TITLE_AND_BODY_2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2757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2757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6"/>
          <p:cNvSpPr/>
          <p:nvPr>
            <p:ph idx="2" type="pic"/>
          </p:nvPr>
        </p:nvSpPr>
        <p:spPr>
          <a:xfrm>
            <a:off x="4298349" y="316350"/>
            <a:ext cx="4510800" cy="451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Quarterly business review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4700" y="1782325"/>
            <a:ext cx="42873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283475" y="420225"/>
            <a:ext cx="73233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00">
          <p15:clr>
            <a:schemeClr val="accent3"/>
          </p15:clr>
        </p15:guide>
        <p15:guide id="2" orient="horz" pos="300">
          <p15:clr>
            <a:schemeClr val="accent3"/>
          </p15:clr>
        </p15:guide>
        <p15:guide id="3" orient="horz" pos="899">
          <p15:clr>
            <a:schemeClr val="accent3"/>
          </p15:clr>
        </p15:guide>
        <p15:guide id="4" pos="1561">
          <p15:clr>
            <a:schemeClr val="accent3"/>
          </p15:clr>
        </p15:guide>
        <p15:guide id="5" pos="1619">
          <p15:clr>
            <a:schemeClr val="accent3"/>
          </p15:clr>
        </p15:guide>
        <p15:guide id="6" orient="horz" pos="962">
          <p15:clr>
            <a:schemeClr val="accent3"/>
          </p15:clr>
        </p15:guide>
        <p15:guide id="7" orient="horz" pos="1561">
          <p15:clr>
            <a:schemeClr val="accent3"/>
          </p15:clr>
        </p15:guide>
        <p15:guide id="8" orient="horz" pos="1619">
          <p15:clr>
            <a:schemeClr val="accent3"/>
          </p15:clr>
        </p15:guide>
        <p15:guide id="9" orient="horz" pos="2281">
          <p15:clr>
            <a:schemeClr val="accent3"/>
          </p15:clr>
        </p15:guide>
        <p15:guide id="10" orient="horz" pos="2339">
          <p15:clr>
            <a:schemeClr val="accent3"/>
          </p15:clr>
        </p15:guide>
        <p15:guide id="11" orient="horz" pos="2943">
          <p15:clr>
            <a:schemeClr val="accent3"/>
          </p15:clr>
        </p15:guide>
        <p15:guide id="12" pos="1981">
          <p15:clr>
            <a:schemeClr val="accent5"/>
          </p15:clr>
        </p15:guide>
        <p15:guide id="13" pos="2039">
          <p15:clr>
            <a:schemeClr val="accent5"/>
          </p15:clr>
        </p15:guide>
        <p15:guide id="14" pos="2880">
          <p15:clr>
            <a:schemeClr val="accent3"/>
          </p15:clr>
        </p15:guide>
        <p15:guide id="15" pos="2938">
          <p15:clr>
            <a:schemeClr val="accent3"/>
          </p15:clr>
        </p15:guide>
        <p15:guide id="16" pos="3721">
          <p15:clr>
            <a:schemeClr val="accent5"/>
          </p15:clr>
        </p15:guide>
        <p15:guide id="17" pos="3779">
          <p15:clr>
            <a:schemeClr val="accent5"/>
          </p15:clr>
        </p15:guide>
        <p15:guide id="18" pos="4141">
          <p15:clr>
            <a:schemeClr val="accent3"/>
          </p15:clr>
        </p15:guide>
        <p15:guide id="19" pos="4199">
          <p15:clr>
            <a:schemeClr val="accent3"/>
          </p15:clr>
        </p15:guide>
        <p15:guide id="20" pos="5460">
          <p15:clr>
            <a:schemeClr val="accent3"/>
          </p15:clr>
        </p15:guide>
        <p15:guide id="21" pos="179">
          <p15:clr>
            <a:schemeClr val="accent1"/>
          </p15:clr>
        </p15:guide>
        <p15:guide id="22" pos="5581">
          <p15:clr>
            <a:schemeClr val="accent1"/>
          </p15:clr>
        </p15:guide>
        <p15:guide id="23" orient="horz" pos="179">
          <p15:clr>
            <a:schemeClr val="accent1"/>
          </p15:clr>
        </p15:guide>
        <p15:guide id="24" orient="horz" pos="3059">
          <p15:clr>
            <a:schemeClr val="accent1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2757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Presentación y Empresa</a:t>
            </a:r>
            <a:endParaRPr/>
          </a:p>
        </p:txBody>
      </p:sp>
      <p:sp>
        <p:nvSpPr>
          <p:cNvPr id="71" name="Google Shape;71;p18"/>
          <p:cNvSpPr txBox="1"/>
          <p:nvPr>
            <p:ph idx="1" type="body"/>
          </p:nvPr>
        </p:nvSpPr>
        <p:spPr>
          <a:xfrm>
            <a:off x="32757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Empresa: Paquetones S.L., transporte de paquetes a nivel estatal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Pablo Ramiro Foronda Iraiz</a:t>
            </a:r>
            <a:r>
              <a:rPr lang="es"/>
              <a:t>ós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Paulo Blas Heredia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Javier López Peinado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Juan Jesús Pérez Lendínez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Diego Rodrigo Ramos Carranza</a:t>
            </a:r>
            <a:endParaRPr/>
          </a:p>
        </p:txBody>
      </p:sp>
      <p:pic>
        <p:nvPicPr>
          <p:cNvPr id="72" name="Google Shape;72;p1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8349" y="316350"/>
            <a:ext cx="4510800" cy="4510800"/>
          </a:xfrm>
          <a:prstGeom prst="roundRect">
            <a:avLst>
              <a:gd fmla="val 50000" name="adj"/>
            </a:avLst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 Física de la Empresa</a:t>
            </a:r>
            <a:endParaRPr/>
          </a:p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507450" y="1519300"/>
            <a:ext cx="38364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La empresa Paquetones S.L. posee 3 sedes y una nave industrial.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Sede Madrid: 25 equipos en sala de trabajo, 25 equipos multimedia y 3 despachos.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Sede Almería: Servidor de datos, 3 despachos y una sala de reuniones con WIFI.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Sede Central Alicante: 2 salas con 25 puestos de trabajo y 4 despachos.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Nave Industrial Alicante: 20 sensores para la recolección de datos en tiempo real.</a:t>
            </a:r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6250" y="1280000"/>
            <a:ext cx="4495351" cy="2817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me la dispositiva actual" id="83" name="Google Shape;8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5145700" y="226400"/>
            <a:ext cx="3651900" cy="10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Anchos de Banda y Tiempos</a:t>
            </a:r>
            <a:endParaRPr/>
          </a:p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5145700" y="1598500"/>
            <a:ext cx="3651900" cy="33186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La red LAN interna utiliza un ancho de banda de 1 Gbit/s.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El ancho de banda WAN es de 100 Mbit/s entre las sedes.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La velocidad de propagación de la fibra óptica es 200.000 km/s.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Almería y Madrid están separadas por una distancia de 410 km.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El tiempo de propagación entre Almería y Alicante es 1.21 ms.</a:t>
            </a:r>
            <a:endParaRPr/>
          </a:p>
        </p:txBody>
      </p:sp>
      <p:pic>
        <p:nvPicPr>
          <p:cNvPr id="89" name="Google Shape;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025" y="958113"/>
            <a:ext cx="4840900" cy="3227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Diseño WAN y Rutas</a:t>
            </a:r>
            <a:endParaRPr/>
          </a:p>
        </p:txBody>
      </p:sp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Diseño WAN con topología de anillo cerrada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Uso de enrutamiento estático para controlar el flujo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IPs WAN asignadas desde 193.169.198.224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Máscara de subred /30 (255.255.255.252) en interfaces seriales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Configuración DCE/DTE para correcta sincronización de la transmisión</a:t>
            </a:r>
            <a:endParaRPr/>
          </a:p>
        </p:txBody>
      </p:sp>
      <p:pic>
        <p:nvPicPr>
          <p:cNvPr id="95" name="Google Shape;9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9757" y="1477075"/>
            <a:ext cx="3549442" cy="2184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Nave de Sensores Inalámbricos</a:t>
            </a:r>
            <a:endParaRPr/>
          </a:p>
        </p:txBody>
      </p:sp>
      <p:sp>
        <p:nvSpPr>
          <p:cNvPr id="100" name="Google Shape;100;p23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Conexión de sensores inalámbricos en la Nave de Alicante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Switch y Access Point integran sensores a la red cableada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Access Point funciona como puente entre las diferentes redes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Direcciones IP asignadas a sensores mediante DHCP del router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Conectividad completa y comunicación bidireccional comprobada con pings</a:t>
            </a:r>
            <a:endParaRPr/>
          </a:p>
        </p:txBody>
      </p:sp>
      <p:pic>
        <p:nvPicPr>
          <p:cNvPr id="101" name="Google Shape;10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2157" y="1426475"/>
            <a:ext cx="3549441" cy="1904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rterly business review">
  <a:themeElements>
    <a:clrScheme name="Simple Light">
      <a:dk1>
        <a:srgbClr val="131313"/>
      </a:dk1>
      <a:lt1>
        <a:srgbClr val="FAFAFA"/>
      </a:lt1>
      <a:dk2>
        <a:srgbClr val="B5B5B7"/>
      </a:dk2>
      <a:lt2>
        <a:srgbClr val="EAE1E2"/>
      </a:lt2>
      <a:accent1>
        <a:srgbClr val="7D57AE"/>
      </a:accent1>
      <a:accent2>
        <a:srgbClr val="E8C8C7"/>
      </a:accent2>
      <a:accent3>
        <a:srgbClr val="2F5C7C"/>
      </a:accent3>
      <a:accent4>
        <a:srgbClr val="DECEE8"/>
      </a:accent4>
      <a:accent5>
        <a:srgbClr val="B0BFDE"/>
      </a:accent5>
      <a:accent6>
        <a:srgbClr val="DDEAFB"/>
      </a:accent6>
      <a:hlink>
        <a:srgbClr val="2F5C7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