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sldIdLst>
    <p:sldId id="256" r:id="rId5"/>
    <p:sldId id="257" r:id="rId6"/>
    <p:sldId id="258" r:id="rId7"/>
    <p:sldId id="259" r:id="rId8"/>
    <p:sldId id="260" r:id="rId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s-ES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endParaRPr b="1" lang="es-ES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870655-9982-47F5-98E5-4FEA0D9805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s-ES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EC7B92-BC68-4C4C-A8D4-B2EC71B8AF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s-ES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endParaRPr b="1" lang="es-ES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773FE5-5F15-4FF4-9F3E-D572A55D0E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s-ES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endParaRPr b="1" lang="es-ES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5793BDB-3909-4C3B-8037-2911C577AE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0000"/>
            <a:ext cx="10080000" cy="27000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s-ES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80000" cy="121500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s-ES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s-ES" sz="2700" strike="noStrike" u="none">
                <a:solidFill>
                  <a:srgbClr val="ffffff"/>
                </a:solidFill>
                <a:uFillTx/>
                <a:latin typeface="Source Sans Pro Black"/>
              </a:rPr>
              <a:t>Pulse para editar el formato del texto de título</a:t>
            </a:r>
            <a:endParaRPr b="1" lang="es-ES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s-ES" sz="2400" strike="noStrike" u="none">
                <a:solidFill>
                  <a:srgbClr val="2c3e50"/>
                </a:solidFill>
                <a:uFillTx/>
                <a:latin typeface="Source Sans Pro Semibold"/>
              </a:rPr>
              <a:t>Pulse para editar el formato de texto del esquema</a:t>
            </a:r>
            <a:endParaRPr b="1" lang="es-ES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s-ES" sz="2100" strike="noStrike" u="none">
                <a:solidFill>
                  <a:srgbClr val="2c3e50"/>
                </a:solidFill>
                <a:uFillTx/>
                <a:latin typeface="Source Sans Pro"/>
              </a:rPr>
              <a:t>Segundo nivel del esquema</a:t>
            </a:r>
            <a:endParaRPr b="0" lang="es-ES" sz="21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lvl="2" marL="1296000" indent="-288000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2c3e50"/>
                </a:solidFill>
                <a:uFillTx/>
                <a:latin typeface="Source Sans Pro"/>
              </a:rPr>
              <a:t>Tercer nivel del esquema</a:t>
            </a:r>
            <a:endParaRPr b="0" lang="es-ES" sz="18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lvl="3" marL="1728000" indent="-216000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s-ES" sz="1500" strike="noStrike" u="none">
                <a:solidFill>
                  <a:srgbClr val="2c3e50"/>
                </a:solidFill>
                <a:uFillTx/>
                <a:latin typeface="Source Sans Pro"/>
              </a:rPr>
              <a:t>Cuarto nivel del esquema</a:t>
            </a:r>
            <a:endParaRPr b="0" lang="es-ES" sz="15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lvl="4" marL="2160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s-ES" sz="1500" strike="noStrike" u="none">
                <a:solidFill>
                  <a:srgbClr val="2c3e50"/>
                </a:solidFill>
                <a:uFillTx/>
                <a:latin typeface="Source Sans Pro"/>
              </a:rPr>
              <a:t>Quinto nivel del esquema</a:t>
            </a:r>
            <a:endParaRPr b="0" lang="es-ES" sz="15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lvl="5" marL="2592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s-ES" sz="1500" strike="noStrike" u="none">
                <a:solidFill>
                  <a:srgbClr val="2c3e50"/>
                </a:solidFill>
                <a:uFillTx/>
                <a:latin typeface="Source Sans Pro"/>
              </a:rPr>
              <a:t>Sexto nivel del esquema</a:t>
            </a:r>
            <a:endParaRPr b="0" lang="es-ES" sz="1500" strike="noStrike" u="none">
              <a:solidFill>
                <a:srgbClr val="2c3e50"/>
              </a:solidFill>
              <a:uFillTx/>
              <a:latin typeface="Source Sans Pro"/>
            </a:endParaRPr>
          </a:p>
          <a:p>
            <a:pPr lvl="6" marL="3024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s-ES" sz="1500" strike="noStrike" u="none">
                <a:solidFill>
                  <a:srgbClr val="2c3e50"/>
                </a:solidFill>
                <a:uFillTx/>
                <a:latin typeface="Source Sans Pro"/>
              </a:rPr>
              <a:t>Séptimo nivel del esquema</a:t>
            </a:r>
            <a:endParaRPr b="0" lang="es-ES" sz="15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4" name=""/>
          <p:cNvSpPr/>
          <p:nvPr/>
        </p:nvSpPr>
        <p:spPr>
          <a:xfrm>
            <a:off x="9315000" y="5175000"/>
            <a:ext cx="450000" cy="45000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s-ES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es-ES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es-ES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&lt;fecha/hora&gt;</a:t>
            </a:r>
            <a:endParaRPr b="1" lang="es-ES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es-ES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es-ES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&lt;pie de página&gt;</a:t>
            </a:r>
            <a:endParaRPr b="1" lang="es-ES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9180000" y="5175000"/>
            <a:ext cx="720000" cy="45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s-ES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buNone/>
            </a:pPr>
            <a:fld id="{3DF91BE0-8266-4485-9DD6-B5730F03B92F}" type="slidenum">
              <a:rPr b="1" lang="es-ES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&lt;número&gt;</a:t>
            </a:fld>
            <a:endParaRPr b="1" lang="es-ES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s-ES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s-ES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b="1" lang="es-ES" sz="2700" strike="noStrike" u="none">
                <a:solidFill>
                  <a:srgbClr val="ffffff"/>
                </a:solidFill>
                <a:uFillTx/>
                <a:latin typeface="Source Sans Pro Black"/>
              </a:rPr>
              <a:t>Pulse para editar el formato del texto de título</a:t>
            </a:r>
            <a:endParaRPr b="1" lang="es-ES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0">
              <a:spcAft>
                <a:spcPts val="655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Pulse para editar el formato de texto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1" marL="864000" indent="0">
              <a:spcAft>
                <a:spcPts val="850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Segundo nivel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2" marL="1296000" indent="0">
              <a:spcAft>
                <a:spcPts val="635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Tercer nivel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3" marL="1728000" indent="0">
              <a:spcAft>
                <a:spcPts val="425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Cuarto nivel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4" marL="2160000" indent="0">
              <a:spcAft>
                <a:spcPts val="213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Quinto nivel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5" marL="2592000" indent="0">
              <a:spcAft>
                <a:spcPts val="213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Sexto nivel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6" marL="3024000" indent="0">
              <a:spcAft>
                <a:spcPts val="213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Séptimo nivel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es-ES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es-ES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&lt;fecha/hora&gt;</a:t>
            </a:r>
            <a:endParaRPr b="1" lang="es-ES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es-ES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es-ES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&lt;pie de página&gt;</a:t>
            </a:r>
            <a:endParaRPr b="1" lang="es-ES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s-ES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buNone/>
            </a:pPr>
            <a:fld id="{5071EA85-72E5-449E-9B0C-89BA22DDD770}" type="slidenum">
              <a:rPr b="1" lang="es-ES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&lt;número&gt;</a:t>
            </a:fld>
            <a:endParaRPr b="1" lang="es-ES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s-ES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22" name=""/>
          <p:cNvSpPr/>
          <p:nvPr/>
        </p:nvSpPr>
        <p:spPr>
          <a:xfrm>
            <a:off x="2520000" y="1350000"/>
            <a:ext cx="5040000" cy="189000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pPr algn="ctr"/>
            <a:endParaRPr b="0" lang="es-ES" sz="1800" strike="noStrike" u="none">
              <a:solidFill>
                <a:srgbClr val="2c3e50"/>
              </a:solidFill>
              <a:uFillTx/>
              <a:latin typeface="Source Sans Pro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1" lang="es-ES" sz="2700" strike="noStrike" u="none">
                <a:solidFill>
                  <a:srgbClr val="2c3e50"/>
                </a:solidFill>
                <a:uFillTx/>
                <a:latin typeface="Source Sans Pro Black"/>
              </a:rPr>
              <a:t>Pulse para editar el formato del texto de título</a:t>
            </a:r>
            <a:endParaRPr b="1" lang="es-ES" sz="2700" strike="noStrike" u="none">
              <a:solidFill>
                <a:srgbClr val="2c3e50"/>
              </a:solidFill>
              <a:uFillTx/>
              <a:latin typeface="Source Sans Pro Black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0">
              <a:spcAft>
                <a:spcPts val="655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Pulse para editar el formato de texto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1" marL="864000" indent="0">
              <a:spcAft>
                <a:spcPts val="850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Segundo nivel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2" marL="1296000" indent="0">
              <a:spcAft>
                <a:spcPts val="635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Tercer nivel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3" marL="1728000" indent="0">
              <a:spcAft>
                <a:spcPts val="425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Cuarto nivel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4" marL="2160000" indent="0">
              <a:spcAft>
                <a:spcPts val="213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Quinto nivel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5" marL="2592000" indent="0">
              <a:spcAft>
                <a:spcPts val="213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Sexto nivel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lvl="6" marL="3024000" indent="0">
              <a:spcAft>
                <a:spcPts val="213"/>
              </a:spcAft>
            </a:pPr>
            <a:r>
              <a:rPr b="0" lang="es-ES" sz="1500" strike="noStrike" u="none">
                <a:solidFill>
                  <a:srgbClr val="ffffff"/>
                </a:solidFill>
                <a:uFillTx/>
                <a:latin typeface="Source Sans Pro"/>
              </a:rPr>
              <a:t>Séptimo nivel del esquema</a:t>
            </a:r>
            <a:endParaRPr b="0" lang="es-ES" sz="15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7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es-ES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es-ES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&lt;fecha/hora&gt;</a:t>
            </a:r>
            <a:endParaRPr b="1" lang="es-ES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8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es-ES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es-ES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&lt;pie de página&gt;</a:t>
            </a:r>
            <a:endParaRPr b="1" lang="es-ES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9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s-ES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buNone/>
            </a:pPr>
            <a:fld id="{6E595438-93AD-439F-952A-CF8B33F7A169}" type="slidenum">
              <a:rPr b="1" lang="es-ES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&lt;número&gt;</a:t>
            </a:fld>
            <a:endParaRPr b="1" lang="es-ES" sz="18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000" y="2160000"/>
            <a:ext cx="9360000" cy="145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b="1" lang="es-ES" sz="2700" strike="noStrike" u="none">
                <a:solidFill>
                  <a:srgbClr val="ffffff"/>
                </a:solidFill>
                <a:uFillTx/>
                <a:latin typeface="Source Sans Pro Black"/>
              </a:rPr>
              <a:t>Reto 8: Llamada a función por desbordamiento del Buffer.</a:t>
            </a:r>
            <a:endParaRPr b="1" lang="es-ES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ES" sz="1800" strike="noStrike" u="none">
                <a:solidFill>
                  <a:srgbClr val="ffffff"/>
                </a:solidFill>
                <a:uFillTx/>
                <a:latin typeface="Source Sans Pro"/>
              </a:rPr>
              <a:t>Paulo Blas Heredia</a:t>
            </a:r>
            <a:endParaRPr b="0" lang="es-ES" sz="18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s-ES" sz="1800" strike="noStrike" u="none">
                <a:solidFill>
                  <a:srgbClr val="ffffff"/>
                </a:solidFill>
                <a:uFillTx/>
                <a:latin typeface="Source Sans Pro"/>
              </a:rPr>
              <a:t>Almudena Hernandez Serrano</a:t>
            </a:r>
            <a:endParaRPr b="0" lang="es-ES" sz="18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s-ES" sz="1800" strike="noStrike" u="none">
                <a:solidFill>
                  <a:srgbClr val="ffffff"/>
                </a:solidFill>
                <a:uFillTx/>
                <a:latin typeface="Source Sans Pro"/>
              </a:rPr>
              <a:t>Daniel Gotter</a:t>
            </a:r>
            <a:endParaRPr b="0" lang="es-ES" sz="1800" strike="noStrike" u="none">
              <a:solidFill>
                <a:srgbClr val="ffffff"/>
              </a:solidFill>
              <a:uFillTx/>
              <a:latin typeface="Source Sans Pro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s-ES" sz="1800" strike="noStrike" u="none">
                <a:solidFill>
                  <a:srgbClr val="ffffff"/>
                </a:solidFill>
                <a:uFillTx/>
                <a:latin typeface="Source Sans Pro"/>
              </a:rPr>
              <a:t>Carlos Martín Rodríguez</a:t>
            </a:r>
            <a:endParaRPr b="0" lang="es-ES" sz="1800" strike="noStrike" u="none">
              <a:solidFill>
                <a:srgbClr val="ffffff"/>
              </a:solidFill>
              <a:uFillTx/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s-ES" sz="2700" strike="noStrike" u="none">
                <a:solidFill>
                  <a:srgbClr val="ffffff"/>
                </a:solidFill>
                <a:uFillTx/>
                <a:latin typeface="Source Sans Pro Black"/>
              </a:rPr>
              <a:t>Contexto</a:t>
            </a:r>
            <a:endParaRPr b="1" lang="es-ES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60000" y="1440000"/>
            <a:ext cx="48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856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s-ES" sz="1800" strike="noStrike" u="none">
                <a:solidFill>
                  <a:srgbClr val="2c3e50"/>
                </a:solidFill>
                <a:uFillTx/>
                <a:latin typeface="Source Sans Pro Semibold"/>
              </a:rPr>
              <a:t>Para la realización de este reto utilizaremos un nuevo archivo llamado bufOver6.c</a:t>
            </a:r>
            <a:endParaRPr b="1" lang="es-ES" sz="1800" strike="noStrike" u="none">
              <a:solidFill>
                <a:srgbClr val="2c3e50"/>
              </a:solidFill>
              <a:uFillTx/>
              <a:latin typeface="Source Sans Pro Semibold"/>
            </a:endParaRPr>
          </a:p>
          <a:p>
            <a:pPr marL="432000" indent="-324000">
              <a:spcAft>
                <a:spcPts val="856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s-ES" sz="1800" strike="noStrike" u="none">
                <a:solidFill>
                  <a:srgbClr val="2c3e50"/>
                </a:solidFill>
                <a:uFillTx/>
                <a:latin typeface="Source Sans Pro Semibold"/>
              </a:rPr>
              <a:t>Como podemos ver, ahora para poder imprimir “you win!” por pantalla tenemos que llamar a una función inaccesible desde el main.</a:t>
            </a:r>
            <a:endParaRPr b="1" lang="es-ES" sz="18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5400000" y="1440000"/>
            <a:ext cx="4320000" cy="25797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EAA950-DDAE-4AD7-9B48-08BFF6BD67DE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s-ES" sz="2700" strike="noStrike" u="none">
                <a:solidFill>
                  <a:srgbClr val="ffffff"/>
                </a:solidFill>
                <a:uFillTx/>
                <a:latin typeface="Source Sans Pro Black"/>
              </a:rPr>
              <a:t>Estrategia</a:t>
            </a:r>
            <a:endParaRPr b="1" lang="es-ES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s-ES" sz="2400" strike="noStrike" u="none">
                <a:solidFill>
                  <a:srgbClr val="2c3e50"/>
                </a:solidFill>
                <a:uFillTx/>
                <a:latin typeface="Source Sans Pro Semibold"/>
              </a:rPr>
              <a:t>Utilizando la vulnerabilidad de la función gets(), es posible desbordar mas allá de las variables locales y sobrescribir la dirección de retorno para llamar a otra función.</a:t>
            </a:r>
            <a:endParaRPr b="1" lang="es-ES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A16857-2338-481C-AE8E-8D0097BC4447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s-ES" sz="2700" strike="noStrike" u="none">
                <a:solidFill>
                  <a:srgbClr val="ffffff"/>
                </a:solidFill>
                <a:uFillTx/>
                <a:latin typeface="Source Sans Pro Black"/>
              </a:rPr>
              <a:t>Preparando el ataque</a:t>
            </a:r>
            <a:endParaRPr b="1" lang="es-ES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468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s-ES" sz="2400" strike="noStrike" u="none">
                <a:solidFill>
                  <a:srgbClr val="2c3e50"/>
                </a:solidFill>
                <a:uFillTx/>
                <a:latin typeface="Source Sans Pro Semibold"/>
              </a:rPr>
              <a:t>Tras compilar bufOver6 sin restricciones, desglosamos el código en formato ensamblador</a:t>
            </a:r>
            <a:endParaRPr b="1" lang="es-ES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s-ES" sz="2400" strike="noStrike" u="none">
                <a:solidFill>
                  <a:srgbClr val="2c3e50"/>
                </a:solidFill>
                <a:uFillTx/>
                <a:latin typeface="Source Sans Pro Semibold"/>
              </a:rPr>
              <a:t>En la instrucción “sub $0x60,%rsp”, podemos observar que el programa reserva 60 bytes (96 en decimal) para las variables locales.</a:t>
            </a:r>
            <a:endParaRPr b="1" lang="es-ES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s-ES" sz="2400" strike="noStrike" u="none">
                <a:solidFill>
                  <a:srgbClr val="2c3e50"/>
                </a:solidFill>
                <a:uFillTx/>
                <a:latin typeface="Source Sans Pro Semibold"/>
              </a:rPr>
              <a:t> </a:t>
            </a:r>
            <a:r>
              <a:rPr b="1" lang="es-ES" sz="2400" strike="noStrike" u="none">
                <a:solidFill>
                  <a:srgbClr val="2c3e50"/>
                </a:solidFill>
                <a:uFillTx/>
                <a:latin typeface="Source Sans Pro Semibold"/>
              </a:rPr>
              <a:t>Añadiendo los 8 bytes del puntero RBP, resulta que se necesitan 108 bytes para escribir más allá de las variables locales</a:t>
            </a:r>
            <a:endParaRPr b="1" lang="es-ES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s-ES" sz="2400" strike="noStrike" u="none">
                <a:solidFill>
                  <a:srgbClr val="2c3e50"/>
                </a:solidFill>
                <a:uFillTx/>
                <a:latin typeface="Source Sans Pro Semibold"/>
              </a:rPr>
              <a:t>Una vez superado esto, tan sólo tenemos que escribir la dirección de la función win() (0x401152)</a:t>
            </a:r>
            <a:endParaRPr b="1" lang="es-ES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5040000" y="1260000"/>
            <a:ext cx="4921560" cy="199512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DE9AB9-E574-4A3F-8B3E-20BC649F2954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s-ES" sz="2700" strike="noStrike" u="none">
                <a:solidFill>
                  <a:srgbClr val="ffffff"/>
                </a:solidFill>
                <a:uFillTx/>
                <a:latin typeface="Source Sans Pro Black"/>
              </a:rPr>
              <a:t>Comprobación</a:t>
            </a:r>
            <a:endParaRPr b="1" lang="es-ES" sz="2700" strike="noStrike" u="none">
              <a:solidFill>
                <a:srgbClr val="ffffff"/>
              </a:solidFill>
              <a:uFillTx/>
              <a:latin typeface="Source Sans Pro Black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39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s-ES" sz="2400" strike="noStrike" u="none">
                <a:solidFill>
                  <a:srgbClr val="2c3e50"/>
                </a:solidFill>
                <a:uFillTx/>
                <a:latin typeface="Source Sans Pro Semibold"/>
              </a:rPr>
              <a:t>Escribimos el Script en Python, ejecutamos ambos programas y comprobamos que efectivamente se ejecuta tal cómo queremos.</a:t>
            </a:r>
            <a:endParaRPr b="1" lang="es-ES" sz="2400" strike="noStrike" u="none">
              <a:solidFill>
                <a:srgbClr val="2c3e50"/>
              </a:solidFill>
              <a:uFillTx/>
              <a:latin typeface="Source Sans Pro Semibold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6892920" y="3422880"/>
            <a:ext cx="2287080" cy="1617120"/>
          </a:xfrm>
          <a:prstGeom prst="rect">
            <a:avLst/>
          </a:prstGeom>
          <a:noFill/>
          <a:ln w="10800">
            <a:noFill/>
          </a:ln>
        </p:spPr>
      </p:pic>
      <p:pic>
        <p:nvPicPr>
          <p:cNvPr id="43" name="" descr=""/>
          <p:cNvPicPr/>
          <p:nvPr/>
        </p:nvPicPr>
        <p:blipFill>
          <a:blip r:embed="rId2"/>
          <a:stretch/>
        </p:blipFill>
        <p:spPr>
          <a:xfrm>
            <a:off x="4665240" y="1349280"/>
            <a:ext cx="5234760" cy="189072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33E0B4-4B90-45AE-9F66-3A9DD99B225D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LibreOffice/24.8.6.2$Windows_X86_64 LibreOffice_project/6d98ba145e9a8a39fc57bcc76981d1fb1316c60c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2025-06-06T13:37:54Z</dcterms:created>
  <dc:creator/>
  <dc:description/>
  <dc:language>es-ES</dc:language>
  <cp:lastModifiedBy/>
  <dcterms:modified xsi:type="dcterms:W3CDTF">2025-06-06T14:00:50Z</dcterms:modified>
  <cp:revision>2</cp:revision>
  <dc:subject/>
  <dc:title>Midnightblue</dc:title>
</cp:coreProperties>
</file>